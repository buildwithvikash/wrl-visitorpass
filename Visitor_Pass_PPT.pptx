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9" r:id="rId2"/>
    <p:sldId id="290" r:id="rId3"/>
    <p:sldId id="291" r:id="rId4"/>
    <p:sldId id="298" r:id="rId5"/>
    <p:sldId id="293" r:id="rId6"/>
    <p:sldId id="299" r:id="rId7"/>
    <p:sldId id="294" r:id="rId8"/>
    <p:sldId id="29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vraj.j" initials="y" lastIdx="1" clrIdx="0">
    <p:extLst>
      <p:ext uri="{19B8F6BF-5375-455C-9EA6-DF929625EA0E}">
        <p15:presenceInfo xmlns:p15="http://schemas.microsoft.com/office/powerpoint/2012/main" userId="yuvraj.j" providerId="None"/>
      </p:ext>
    </p:extLst>
  </p:cmAuthor>
  <p:cmAuthor id="2" name="devendra.s" initials="d" lastIdx="2" clrIdx="1">
    <p:extLst>
      <p:ext uri="{19B8F6BF-5375-455C-9EA6-DF929625EA0E}">
        <p15:presenceInfo xmlns:p15="http://schemas.microsoft.com/office/powerpoint/2012/main" userId="devendra.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7EB9"/>
    <a:srgbClr val="000000"/>
    <a:srgbClr val="DCDCD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1" autoAdjust="0"/>
    <p:restoredTop sz="95226" autoAdjust="0"/>
  </p:normalViewPr>
  <p:slideViewPr>
    <p:cSldViewPr snapToGrid="0" showGuides="1">
      <p:cViewPr varScale="1">
        <p:scale>
          <a:sx n="107" d="100"/>
          <a:sy n="107" d="100"/>
        </p:scale>
        <p:origin x="91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164F5-23B9-4F4E-BE91-00A441F1320E}" type="datetimeFigureOut">
              <a:rPr lang="en-IN" smtClean="0"/>
              <a:t>20-11-2025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567F4-A095-43FF-9973-BCDF9B12546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7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567F4-A095-43FF-9973-BCDF9B125461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867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567F4-A095-43FF-9973-BCDF9B125461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19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94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54" y="6052402"/>
            <a:ext cx="893109" cy="827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0234" y="6142022"/>
            <a:ext cx="1296285" cy="737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46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03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4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4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3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16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96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38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28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4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195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12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221A2-B2E9-42BF-B94C-BFC9684E46D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03302-3E36-488B-865F-B3F7D28302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正方形/長方形 3"/>
          <p:cNvSpPr/>
          <p:nvPr/>
        </p:nvSpPr>
        <p:spPr>
          <a:xfrm>
            <a:off x="0" y="0"/>
            <a:ext cx="12192000" cy="548680"/>
          </a:xfrm>
          <a:prstGeom prst="rect">
            <a:avLst/>
          </a:prstGeom>
          <a:gradFill flip="none" rotWithShape="1">
            <a:gsLst>
              <a:gs pos="0">
                <a:srgbClr val="0000FF"/>
              </a:gs>
              <a:gs pos="98000">
                <a:srgbClr val="93FF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600" b="1" dirty="0">
                <a:solidFill>
                  <a:prstClr val="white"/>
                </a:solidFill>
              </a:rPr>
              <a:t>　　　　　　　　</a:t>
            </a:r>
            <a:r>
              <a:rPr lang="ja-JP" altLang="en-US" sz="3600" b="1">
                <a:solidFill>
                  <a:prstClr val="white"/>
                </a:solidFill>
              </a:rPr>
              <a:t>　</a:t>
            </a:r>
            <a:endParaRPr kumimoji="1" lang="ja-JP" alt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3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10F419-BD6A-4774-91FC-20523CFBDC87}"/>
              </a:ext>
            </a:extLst>
          </p:cNvPr>
          <p:cNvSpPr txBox="1"/>
          <p:nvPr/>
        </p:nvSpPr>
        <p:spPr>
          <a:xfrm>
            <a:off x="5651383" y="2265029"/>
            <a:ext cx="490551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 anchor="ctr">
            <a:spAutoFit/>
          </a:bodyPr>
          <a:lstStyle/>
          <a:p>
            <a:r>
              <a:rPr lang="en-IN" sz="8000" dirty="0">
                <a:latin typeface="Arial Nova Cond" panose="020B0506020202020204" pitchFamily="34" charset="0"/>
              </a:rPr>
              <a:t>Visitor Pass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C7AE9-CC91-424E-AD3D-A51A51B98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107" y="1638632"/>
            <a:ext cx="2314898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8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6D22C0F-1CEE-4B75-9CD5-E9475DA74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149" y="1332761"/>
            <a:ext cx="8934412" cy="43991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9DE5F3-774B-CA02-0152-73BB6BFD7E13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</a:t>
            </a:r>
            <a:r>
              <a:rPr lang="en-IN" b="1" dirty="0">
                <a:solidFill>
                  <a:schemeClr val="bg1"/>
                </a:solidFill>
                <a:latin typeface="Arial Nova Cond" panose="020B0506020202020204" pitchFamily="34" charset="0"/>
              </a:rPr>
              <a:t>Pass Generation</a:t>
            </a:r>
            <a:endParaRPr lang="en-IN" sz="1800" b="1" i="0" u="none" strike="noStrike" dirty="0">
              <a:solidFill>
                <a:schemeClr val="bg1"/>
              </a:solidFill>
              <a:effectLst/>
              <a:latin typeface="Arial Nova Cond" panose="020B0506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F88C7-EF80-441D-8248-56752F9258AD}"/>
              </a:ext>
            </a:extLst>
          </p:cNvPr>
          <p:cNvSpPr txBox="1"/>
          <p:nvPr/>
        </p:nvSpPr>
        <p:spPr>
          <a:xfrm>
            <a:off x="2188483" y="5925747"/>
            <a:ext cx="231493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ID Verification with Option like Aadhaar, Pan Card and other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D19E51-DC3F-40C8-B398-07B5A88A4354}"/>
              </a:ext>
            </a:extLst>
          </p:cNvPr>
          <p:cNvSpPr txBox="1"/>
          <p:nvPr/>
        </p:nvSpPr>
        <p:spPr>
          <a:xfrm>
            <a:off x="7896837" y="574625"/>
            <a:ext cx="373029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Arial Nova Cond" panose="020B0506020202020204" pitchFamily="34" charset="0"/>
              </a:defRPr>
            </a:lvl1pPr>
          </a:lstStyle>
          <a:p>
            <a:r>
              <a:rPr lang="en-IN" dirty="0"/>
              <a:t>Appointment Details:</a:t>
            </a:r>
          </a:p>
          <a:p>
            <a:r>
              <a:rPr lang="en-US" b="0" dirty="0"/>
              <a:t>The Appointment Details section shows the purpose of visit, meeting person, and scheduled time. It helps ensure accurate visitor routing and quick verification during entry.</a:t>
            </a:r>
            <a:endParaRPr lang="en-IN" b="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84B70C4-67F9-4872-B53C-8C7D17C852E1}"/>
              </a:ext>
            </a:extLst>
          </p:cNvPr>
          <p:cNvCxnSpPr>
            <a:cxnSpLocks/>
            <a:stCxn id="12" idx="2"/>
            <a:endCxn id="71" idx="0"/>
          </p:cNvCxnSpPr>
          <p:nvPr/>
        </p:nvCxnSpPr>
        <p:spPr>
          <a:xfrm flipH="1">
            <a:off x="9097754" y="1344066"/>
            <a:ext cx="664233" cy="4077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8A8D1E-85DD-4E88-A19A-D8942874394C}"/>
              </a:ext>
            </a:extLst>
          </p:cNvPr>
          <p:cNvCxnSpPr>
            <a:cxnSpLocks/>
            <a:stCxn id="10" idx="0"/>
            <a:endCxn id="85" idx="2"/>
          </p:cNvCxnSpPr>
          <p:nvPr/>
        </p:nvCxnSpPr>
        <p:spPr>
          <a:xfrm flipV="1">
            <a:off x="3345952" y="5394959"/>
            <a:ext cx="591360" cy="5307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36F18B1-8AE3-4C3A-94AF-900A7657C7FF}"/>
              </a:ext>
            </a:extLst>
          </p:cNvPr>
          <p:cNvSpPr txBox="1"/>
          <p:nvPr/>
        </p:nvSpPr>
        <p:spPr>
          <a:xfrm>
            <a:off x="57013" y="4439738"/>
            <a:ext cx="1367206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Visitor Email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Visitor Company Name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841239B-570D-4155-837C-9528A3754823}"/>
              </a:ext>
            </a:extLst>
          </p:cNvPr>
          <p:cNvCxnSpPr>
            <a:cxnSpLocks/>
            <a:stCxn id="45" idx="3"/>
            <a:endCxn id="64" idx="1"/>
          </p:cNvCxnSpPr>
          <p:nvPr/>
        </p:nvCxnSpPr>
        <p:spPr>
          <a:xfrm flipV="1">
            <a:off x="1424219" y="4540393"/>
            <a:ext cx="1228073" cy="1994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FF35612-000F-437E-A745-F46FBCB0B50A}"/>
              </a:ext>
            </a:extLst>
          </p:cNvPr>
          <p:cNvSpPr txBox="1"/>
          <p:nvPr/>
        </p:nvSpPr>
        <p:spPr>
          <a:xfrm>
            <a:off x="10696156" y="3853335"/>
            <a:ext cx="1173115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100">
                <a:latin typeface="Arial Nova Cond" panose="020B0506020202020204" pitchFamily="34" charset="0"/>
              </a:defRPr>
            </a:lvl1pPr>
          </a:lstStyle>
          <a:p>
            <a:r>
              <a:rPr lang="en-IN" dirty="0"/>
              <a:t>Purpose of Visit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E965CEE-1A96-4EC7-BF16-36F883FAADA3}"/>
              </a:ext>
            </a:extLst>
          </p:cNvPr>
          <p:cNvCxnSpPr>
            <a:cxnSpLocks/>
            <a:stCxn id="47" idx="1"/>
            <a:endCxn id="83" idx="3"/>
          </p:cNvCxnSpPr>
          <p:nvPr/>
        </p:nvCxnSpPr>
        <p:spPr>
          <a:xfrm flipH="1" flipV="1">
            <a:off x="10335263" y="3965422"/>
            <a:ext cx="360893" cy="187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FF551E8-0E77-439B-A2EA-F5CD8FA377AC}"/>
              </a:ext>
            </a:extLst>
          </p:cNvPr>
          <p:cNvSpPr txBox="1"/>
          <p:nvPr/>
        </p:nvSpPr>
        <p:spPr>
          <a:xfrm>
            <a:off x="10686889" y="3027922"/>
            <a:ext cx="10386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100">
                <a:latin typeface="Arial Nova Cond" panose="020B0506020202020204" pitchFamily="34" charset="0"/>
              </a:defRPr>
            </a:lvl1pPr>
          </a:lstStyle>
          <a:p>
            <a:pPr marL="0" indent="0">
              <a:buNone/>
            </a:pPr>
            <a:r>
              <a:rPr lang="en-IN" dirty="0"/>
              <a:t>Vendor’ Asset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C807A98-1E5C-4155-9B57-1EE340281984}"/>
              </a:ext>
            </a:extLst>
          </p:cNvPr>
          <p:cNvCxnSpPr>
            <a:cxnSpLocks/>
            <a:stCxn id="53" idx="1"/>
            <a:endCxn id="77" idx="3"/>
          </p:cNvCxnSpPr>
          <p:nvPr/>
        </p:nvCxnSpPr>
        <p:spPr>
          <a:xfrm flipH="1">
            <a:off x="10328601" y="3158727"/>
            <a:ext cx="358288" cy="2161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C59B3E9-73D7-4DE7-95EA-B0E13F86DBBD}"/>
              </a:ext>
            </a:extLst>
          </p:cNvPr>
          <p:cNvSpPr/>
          <p:nvPr/>
        </p:nvSpPr>
        <p:spPr>
          <a:xfrm>
            <a:off x="2652292" y="4385520"/>
            <a:ext cx="2556201" cy="309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065F19-E096-4651-938F-A6C96CFFC63A}"/>
              </a:ext>
            </a:extLst>
          </p:cNvPr>
          <p:cNvSpPr txBox="1"/>
          <p:nvPr/>
        </p:nvSpPr>
        <p:spPr>
          <a:xfrm>
            <a:off x="57013" y="3761382"/>
            <a:ext cx="1367206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Visitor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Mobile Number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476009C-F458-4EE9-A4D8-03CB736B6EAE}"/>
              </a:ext>
            </a:extLst>
          </p:cNvPr>
          <p:cNvCxnSpPr>
            <a:cxnSpLocks/>
            <a:stCxn id="65" idx="3"/>
            <a:endCxn id="67" idx="1"/>
          </p:cNvCxnSpPr>
          <p:nvPr/>
        </p:nvCxnSpPr>
        <p:spPr>
          <a:xfrm>
            <a:off x="1424219" y="3976826"/>
            <a:ext cx="1222168" cy="2148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AB3321BB-191B-4CC9-A5C9-6A1EC1473C5A}"/>
              </a:ext>
            </a:extLst>
          </p:cNvPr>
          <p:cNvSpPr/>
          <p:nvPr/>
        </p:nvSpPr>
        <p:spPr>
          <a:xfrm>
            <a:off x="2646387" y="4036790"/>
            <a:ext cx="2556201" cy="309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021BFC8-A916-40DF-BC4A-AAE6FA01F150}"/>
              </a:ext>
            </a:extLst>
          </p:cNvPr>
          <p:cNvSpPr/>
          <p:nvPr/>
        </p:nvSpPr>
        <p:spPr>
          <a:xfrm>
            <a:off x="5264293" y="1746684"/>
            <a:ext cx="2556201" cy="14178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95DE85F-8833-493F-A2B3-5FF721A6D3A1}"/>
              </a:ext>
            </a:extLst>
          </p:cNvPr>
          <p:cNvSpPr/>
          <p:nvPr/>
        </p:nvSpPr>
        <p:spPr>
          <a:xfrm>
            <a:off x="7866906" y="1751794"/>
            <a:ext cx="2461696" cy="1256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3D9CBA1-C225-44C7-87BB-B0B4084F34B9}"/>
              </a:ext>
            </a:extLst>
          </p:cNvPr>
          <p:cNvSpPr/>
          <p:nvPr/>
        </p:nvSpPr>
        <p:spPr>
          <a:xfrm>
            <a:off x="7866906" y="3050381"/>
            <a:ext cx="2461695" cy="649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1D744D1-05AA-4BAF-ACE4-FBAD58B0BF9B}"/>
              </a:ext>
            </a:extLst>
          </p:cNvPr>
          <p:cNvSpPr/>
          <p:nvPr/>
        </p:nvSpPr>
        <p:spPr>
          <a:xfrm>
            <a:off x="7873568" y="3739179"/>
            <a:ext cx="2461695" cy="452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3C32718-C0CC-4743-BF0B-1E0123C36499}"/>
              </a:ext>
            </a:extLst>
          </p:cNvPr>
          <p:cNvSpPr/>
          <p:nvPr/>
        </p:nvSpPr>
        <p:spPr>
          <a:xfrm>
            <a:off x="2659211" y="5024254"/>
            <a:ext cx="2556201" cy="370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4C4728-FA38-4DFF-AC04-119939B54EE3}"/>
              </a:ext>
            </a:extLst>
          </p:cNvPr>
          <p:cNvSpPr txBox="1"/>
          <p:nvPr/>
        </p:nvSpPr>
        <p:spPr>
          <a:xfrm>
            <a:off x="5522320" y="3792539"/>
            <a:ext cx="2109047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Arial Nova Cond" panose="020B0506020202020204" pitchFamily="34" charset="0"/>
              </a:rPr>
              <a:t>Fetch button:</a:t>
            </a:r>
          </a:p>
          <a:p>
            <a:r>
              <a:rPr lang="en-US" sz="1100" dirty="0"/>
              <a:t>The </a:t>
            </a:r>
            <a:r>
              <a:rPr lang="en-US" sz="1100" b="1" dirty="0"/>
              <a:t>Fetch</a:t>
            </a:r>
            <a:r>
              <a:rPr lang="en-US" sz="1100" dirty="0"/>
              <a:t> button retrieves visitor details based on the entered mobile number. It auto-fills the form to save time and avoid re-entering information.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A1C9B69-7CF1-41B0-90BE-21904DA54774}"/>
              </a:ext>
            </a:extLst>
          </p:cNvPr>
          <p:cNvCxnSpPr>
            <a:cxnSpLocks/>
            <a:stCxn id="88" idx="1"/>
            <a:endCxn id="67" idx="3"/>
          </p:cNvCxnSpPr>
          <p:nvPr/>
        </p:nvCxnSpPr>
        <p:spPr>
          <a:xfrm flipH="1" flipV="1">
            <a:off x="5202588" y="4191664"/>
            <a:ext cx="319732" cy="1548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29B3D81C-1C6B-44F7-B4F7-721C73720AEC}"/>
              </a:ext>
            </a:extLst>
          </p:cNvPr>
          <p:cNvSpPr txBox="1"/>
          <p:nvPr/>
        </p:nvSpPr>
        <p:spPr>
          <a:xfrm>
            <a:off x="3934437" y="612725"/>
            <a:ext cx="373029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latin typeface="Arial Nova Cond" panose="020B0506020202020204" pitchFamily="34" charset="0"/>
              </a:defRPr>
            </a:lvl1pPr>
          </a:lstStyle>
          <a:p>
            <a:r>
              <a:rPr lang="en-IN" dirty="0"/>
              <a:t>Address Details:</a:t>
            </a:r>
          </a:p>
          <a:p>
            <a:r>
              <a:rPr lang="en-US" b="0" dirty="0"/>
              <a:t>The Address section captures the visitor’s full residential details. It ensures accurate record-keeping and helps verify visitor identity during registration.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0D66A8D-C130-486B-9A6A-3C02FD3C8DC6}"/>
              </a:ext>
            </a:extLst>
          </p:cNvPr>
          <p:cNvCxnSpPr>
            <a:cxnSpLocks/>
            <a:stCxn id="96" idx="2"/>
            <a:endCxn id="70" idx="0"/>
          </p:cNvCxnSpPr>
          <p:nvPr/>
        </p:nvCxnSpPr>
        <p:spPr>
          <a:xfrm>
            <a:off x="5799587" y="1382166"/>
            <a:ext cx="742807" cy="3645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4E0A598-7829-478F-A6E2-E5AADB4A3238}"/>
              </a:ext>
            </a:extLst>
          </p:cNvPr>
          <p:cNvSpPr txBox="1"/>
          <p:nvPr/>
        </p:nvSpPr>
        <p:spPr>
          <a:xfrm>
            <a:off x="2235853" y="793908"/>
            <a:ext cx="821068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Visitor Pic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A64F021-E799-4B1C-9EDF-B3B77F92A7D1}"/>
              </a:ext>
            </a:extLst>
          </p:cNvPr>
          <p:cNvCxnSpPr>
            <a:cxnSpLocks/>
            <a:stCxn id="102" idx="2"/>
          </p:cNvCxnSpPr>
          <p:nvPr/>
        </p:nvCxnSpPr>
        <p:spPr>
          <a:xfrm>
            <a:off x="2646387" y="1055518"/>
            <a:ext cx="721435" cy="9981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96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B00D8-8019-42C9-A7B0-B4E7531C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49" y="1220259"/>
            <a:ext cx="9515475" cy="4846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5CD532-F4EC-4E52-9AC4-17BC72D9FAE5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IN/</a:t>
            </a:r>
            <a:r>
              <a:rPr lang="en-IN" dirty="0">
                <a:solidFill>
                  <a:schemeClr val="bg1"/>
                </a:solidFill>
                <a:latin typeface="Arial Nova Cond" panose="020B0506020202020204" pitchFamily="34" charset="0"/>
              </a:rPr>
              <a:t>O</a:t>
            </a:r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EB8B71-B283-4ED1-B43B-7BAC1474B0B8}"/>
              </a:ext>
            </a:extLst>
          </p:cNvPr>
          <p:cNvSpPr txBox="1"/>
          <p:nvPr/>
        </p:nvSpPr>
        <p:spPr>
          <a:xfrm>
            <a:off x="3611038" y="715716"/>
            <a:ext cx="125547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Visitor IN Scanning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52F262-437B-40F4-A410-BB94050C54A0}"/>
              </a:ext>
            </a:extLst>
          </p:cNvPr>
          <p:cNvCxnSpPr>
            <a:cxnSpLocks/>
            <a:stCxn id="11" idx="2"/>
            <a:endCxn id="20" idx="1"/>
          </p:cNvCxnSpPr>
          <p:nvPr/>
        </p:nvCxnSpPr>
        <p:spPr>
          <a:xfrm>
            <a:off x="4238774" y="977326"/>
            <a:ext cx="1377800" cy="15484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F4CB21F-6DC4-449C-B3A8-CC05F160FD2D}"/>
              </a:ext>
            </a:extLst>
          </p:cNvPr>
          <p:cNvSpPr/>
          <p:nvPr/>
        </p:nvSpPr>
        <p:spPr>
          <a:xfrm>
            <a:off x="5616574" y="2370894"/>
            <a:ext cx="1776575" cy="309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59CA3A-6D0F-4464-88C5-5FD71F09D722}"/>
              </a:ext>
            </a:extLst>
          </p:cNvPr>
          <p:cNvSpPr txBox="1"/>
          <p:nvPr/>
        </p:nvSpPr>
        <p:spPr>
          <a:xfrm>
            <a:off x="9206410" y="790812"/>
            <a:ext cx="132921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Visitor Out Scanning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F1C6AC-220D-4509-9FB7-B21DA40F3729}"/>
              </a:ext>
            </a:extLst>
          </p:cNvPr>
          <p:cNvCxnSpPr>
            <a:cxnSpLocks/>
            <a:stCxn id="22" idx="2"/>
            <a:endCxn id="27" idx="3"/>
          </p:cNvCxnSpPr>
          <p:nvPr/>
        </p:nvCxnSpPr>
        <p:spPr>
          <a:xfrm flipH="1">
            <a:off x="9206410" y="1052422"/>
            <a:ext cx="664605" cy="147334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2FEB1F7-C255-4761-B736-B1D9001E101A}"/>
              </a:ext>
            </a:extLst>
          </p:cNvPr>
          <p:cNvSpPr/>
          <p:nvPr/>
        </p:nvSpPr>
        <p:spPr>
          <a:xfrm>
            <a:off x="7429835" y="2370894"/>
            <a:ext cx="1776575" cy="309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F7C442-296D-427E-A99F-DF4F8166338C}"/>
              </a:ext>
            </a:extLst>
          </p:cNvPr>
          <p:cNvSpPr txBox="1"/>
          <p:nvPr/>
        </p:nvSpPr>
        <p:spPr>
          <a:xfrm>
            <a:off x="6336554" y="715716"/>
            <a:ext cx="113685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Visitor Searching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CD322E-0FF1-4001-BF53-6C768E8A0EBA}"/>
              </a:ext>
            </a:extLst>
          </p:cNvPr>
          <p:cNvCxnSpPr>
            <a:cxnSpLocks/>
            <a:stCxn id="31" idx="2"/>
            <a:endCxn id="36" idx="0"/>
          </p:cNvCxnSpPr>
          <p:nvPr/>
        </p:nvCxnSpPr>
        <p:spPr>
          <a:xfrm>
            <a:off x="6904979" y="977326"/>
            <a:ext cx="511423" cy="10753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07EE230-5C42-4EBC-9882-30836B191BB2}"/>
              </a:ext>
            </a:extLst>
          </p:cNvPr>
          <p:cNvSpPr/>
          <p:nvPr/>
        </p:nvSpPr>
        <p:spPr>
          <a:xfrm>
            <a:off x="6346031" y="2052638"/>
            <a:ext cx="2140742" cy="249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E7F164-04D1-4E5B-958A-37B686118365}"/>
              </a:ext>
            </a:extLst>
          </p:cNvPr>
          <p:cNvSpPr txBox="1"/>
          <p:nvPr/>
        </p:nvSpPr>
        <p:spPr>
          <a:xfrm>
            <a:off x="108462" y="3429000"/>
            <a:ext cx="2166898" cy="1615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Visitor Card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Shows the visitor’s </a:t>
            </a:r>
            <a:r>
              <a:rPr lang="en-US" sz="1100" b="1" dirty="0"/>
              <a:t>check-in and check-out time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Includes the </a:t>
            </a:r>
            <a:r>
              <a:rPr lang="en-US" sz="1100" b="1" dirty="0"/>
              <a:t>employee visited</a:t>
            </a:r>
            <a:r>
              <a:rPr lang="en-US" sz="1100" dirty="0"/>
              <a:t> and </a:t>
            </a:r>
            <a:r>
              <a:rPr lang="en-US" sz="1100" b="1" dirty="0"/>
              <a:t>department visited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Displays the visitor’s </a:t>
            </a:r>
            <a:r>
              <a:rPr lang="en-US" sz="1100" b="1" dirty="0"/>
              <a:t>mobile number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Mentions the </a:t>
            </a:r>
            <a:r>
              <a:rPr lang="en-US" sz="1100" b="1" dirty="0"/>
              <a:t>purpose of the visit</a:t>
            </a:r>
            <a:r>
              <a:rPr lang="en-US" sz="1100" dirty="0"/>
              <a:t>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E4E2B4-11F9-4BF4-8D57-A47E282A0805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 flipV="1">
            <a:off x="2275360" y="3890035"/>
            <a:ext cx="728595" cy="3468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D98C9E6-E9B9-4B1E-9E38-20A1E1037AA5}"/>
              </a:ext>
            </a:extLst>
          </p:cNvPr>
          <p:cNvSpPr/>
          <p:nvPr/>
        </p:nvSpPr>
        <p:spPr>
          <a:xfrm>
            <a:off x="3003955" y="3221141"/>
            <a:ext cx="8930869" cy="1337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AA1FA8-47F2-4348-A6AC-D15CF436A223}"/>
              </a:ext>
            </a:extLst>
          </p:cNvPr>
          <p:cNvSpPr txBox="1"/>
          <p:nvPr/>
        </p:nvSpPr>
        <p:spPr>
          <a:xfrm>
            <a:off x="425816" y="2133426"/>
            <a:ext cx="153219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Arial Nova Cond" panose="020B0506020202020204" pitchFamily="34" charset="0"/>
              </a:rPr>
              <a:t>Visitor Count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Total Visitor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Visitor Currently 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Visitor Currently Out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AD66C32-BFD1-40C0-A6DA-C8A7004329FC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>
            <a:off x="1958006" y="2518147"/>
            <a:ext cx="897568" cy="5045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A91BE31C-6705-4890-8CD8-AB03F82A3370}"/>
              </a:ext>
            </a:extLst>
          </p:cNvPr>
          <p:cNvSpPr/>
          <p:nvPr/>
        </p:nvSpPr>
        <p:spPr>
          <a:xfrm>
            <a:off x="2855574" y="2867817"/>
            <a:ext cx="1377801" cy="309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4040E0-CE56-4143-A1FA-16CB22523EF1}"/>
              </a:ext>
            </a:extLst>
          </p:cNvPr>
          <p:cNvSpPr txBox="1"/>
          <p:nvPr/>
        </p:nvSpPr>
        <p:spPr>
          <a:xfrm>
            <a:off x="656488" y="5116642"/>
            <a:ext cx="153219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Arial Nova Cond" panose="020B0506020202020204" pitchFamily="34" charset="0"/>
              </a:rPr>
              <a:t>Quick Action Button</a:t>
            </a:r>
            <a:endParaRPr lang="en-IN" sz="1100" dirty="0">
              <a:latin typeface="Arial Nova Cond" panose="020B0506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Visitor Pass Reprint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Arial Nova Cond" panose="020B0506020202020204" pitchFamily="34" charset="0"/>
              </a:rPr>
              <a:t>To Quickly Check Out Visitor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9D854EB-E40C-4C5E-B771-B39E0174F111}"/>
              </a:ext>
            </a:extLst>
          </p:cNvPr>
          <p:cNvCxnSpPr>
            <a:cxnSpLocks/>
            <a:stCxn id="70" idx="3"/>
            <a:endCxn id="72" idx="1"/>
          </p:cNvCxnSpPr>
          <p:nvPr/>
        </p:nvCxnSpPr>
        <p:spPr>
          <a:xfrm>
            <a:off x="2188678" y="5501363"/>
            <a:ext cx="1355796" cy="3135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4AB88E22-E0F0-4BAF-9706-3E4421458F95}"/>
              </a:ext>
            </a:extLst>
          </p:cNvPr>
          <p:cNvSpPr/>
          <p:nvPr/>
        </p:nvSpPr>
        <p:spPr>
          <a:xfrm>
            <a:off x="3544474" y="5660042"/>
            <a:ext cx="1377801" cy="309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50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9E1F3D-8DFE-4308-8B8B-515CB3E1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94" y="1469363"/>
            <a:ext cx="9605750" cy="47700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C0B9F-6F60-43FE-AE24-108E0DC538E8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8B604-EC64-4D43-9A2D-4C949E651FC4}"/>
              </a:ext>
            </a:extLst>
          </p:cNvPr>
          <p:cNvSpPr txBox="1"/>
          <p:nvPr/>
        </p:nvSpPr>
        <p:spPr>
          <a:xfrm>
            <a:off x="3315202" y="715716"/>
            <a:ext cx="9140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Visitor Inside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9AC7C4-AF49-4D67-A2E1-49BA70EF041A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3772219" y="977326"/>
            <a:ext cx="555585" cy="13258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055D76E-A30B-4A9B-BB06-46A0C6B1C0FF}"/>
              </a:ext>
            </a:extLst>
          </p:cNvPr>
          <p:cNvSpPr/>
          <p:nvPr/>
        </p:nvSpPr>
        <p:spPr>
          <a:xfrm>
            <a:off x="3841561" y="2303192"/>
            <a:ext cx="972485" cy="323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D56976-830B-40EF-B82C-94D8277A9B8F}"/>
              </a:ext>
            </a:extLst>
          </p:cNvPr>
          <p:cNvSpPr txBox="1"/>
          <p:nvPr/>
        </p:nvSpPr>
        <p:spPr>
          <a:xfrm>
            <a:off x="5635352" y="721704"/>
            <a:ext cx="100380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Visitor Outside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0D2A09-162F-41F6-BD70-173E0DE67518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>
            <a:off x="6137253" y="983314"/>
            <a:ext cx="510701" cy="13258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4E30BE7-C9AC-422D-91B6-CF1B03A3F892}"/>
              </a:ext>
            </a:extLst>
          </p:cNvPr>
          <p:cNvSpPr/>
          <p:nvPr/>
        </p:nvSpPr>
        <p:spPr>
          <a:xfrm>
            <a:off x="6161711" y="2309180"/>
            <a:ext cx="972485" cy="323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011878-6840-4EFC-93C1-CD49D883CE00}"/>
              </a:ext>
            </a:extLst>
          </p:cNvPr>
          <p:cNvSpPr txBox="1"/>
          <p:nvPr/>
        </p:nvSpPr>
        <p:spPr>
          <a:xfrm>
            <a:off x="981128" y="715716"/>
            <a:ext cx="91403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Arial Nova Cond" panose="020B0506020202020204" pitchFamily="34" charset="0"/>
              </a:rPr>
              <a:t>Total Visitors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444BC8-0402-4FE9-B479-73DB1CE37EB3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1438145" y="977326"/>
            <a:ext cx="555585" cy="132586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557D90C-7891-4008-987E-4FA8E94EA81E}"/>
              </a:ext>
            </a:extLst>
          </p:cNvPr>
          <p:cNvSpPr/>
          <p:nvPr/>
        </p:nvSpPr>
        <p:spPr>
          <a:xfrm>
            <a:off x="1507487" y="2303192"/>
            <a:ext cx="972485" cy="323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E91E8D-3846-49D2-B5C4-1F1F05E8CDE2}"/>
              </a:ext>
            </a:extLst>
          </p:cNvPr>
          <p:cNvSpPr txBox="1"/>
          <p:nvPr/>
        </p:nvSpPr>
        <p:spPr>
          <a:xfrm>
            <a:off x="13746" y="3429000"/>
            <a:ext cx="947695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C</a:t>
            </a:r>
            <a:r>
              <a:rPr lang="en-IN" sz="1100" dirty="0">
                <a:latin typeface="Arial Nova Cond" panose="020B0506020202020204" pitchFamily="34" charset="0"/>
              </a:rPr>
              <a:t>olumn Chart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20CA16-99CF-4781-A1F7-866B9E9F0A8B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961441" y="3482876"/>
            <a:ext cx="546046" cy="769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321B455-D775-4CC5-A22A-7793EE7E13EE}"/>
              </a:ext>
            </a:extLst>
          </p:cNvPr>
          <p:cNvSpPr/>
          <p:nvPr/>
        </p:nvSpPr>
        <p:spPr>
          <a:xfrm>
            <a:off x="1507487" y="2734409"/>
            <a:ext cx="4572739" cy="1496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F6EA25-0DAF-49A1-B14F-FB2C5259255A}"/>
              </a:ext>
            </a:extLst>
          </p:cNvPr>
          <p:cNvSpPr txBox="1"/>
          <p:nvPr/>
        </p:nvSpPr>
        <p:spPr>
          <a:xfrm>
            <a:off x="10946933" y="3067643"/>
            <a:ext cx="1137492" cy="938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The pie chart shows the number of visitors in each department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FD8A3C-F4C8-429B-9E1F-02000B577F60}"/>
              </a:ext>
            </a:extLst>
          </p:cNvPr>
          <p:cNvCxnSpPr>
            <a:cxnSpLocks/>
            <a:stCxn id="39" idx="1"/>
            <a:endCxn id="41" idx="3"/>
          </p:cNvCxnSpPr>
          <p:nvPr/>
        </p:nvCxnSpPr>
        <p:spPr>
          <a:xfrm flipH="1">
            <a:off x="10767018" y="3537003"/>
            <a:ext cx="179915" cy="1733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1B74F59-23C1-4950-BA45-CDBF00A6290C}"/>
              </a:ext>
            </a:extLst>
          </p:cNvPr>
          <p:cNvSpPr/>
          <p:nvPr/>
        </p:nvSpPr>
        <p:spPr>
          <a:xfrm>
            <a:off x="6194278" y="2734409"/>
            <a:ext cx="4572740" cy="1951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F914DA-77D4-483B-8E3D-B632906E900D}"/>
              </a:ext>
            </a:extLst>
          </p:cNvPr>
          <p:cNvSpPr txBox="1"/>
          <p:nvPr/>
        </p:nvSpPr>
        <p:spPr>
          <a:xfrm>
            <a:off x="-7892" y="5473033"/>
            <a:ext cx="1067921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Recent Visitors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D09D98-BF1B-469C-B7BB-11900063EDDE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1060029" y="5526909"/>
            <a:ext cx="425820" cy="769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72DFBD7-2040-45B2-9B82-849C9CF303F0}"/>
              </a:ext>
            </a:extLst>
          </p:cNvPr>
          <p:cNvSpPr/>
          <p:nvPr/>
        </p:nvSpPr>
        <p:spPr>
          <a:xfrm>
            <a:off x="1485849" y="4778442"/>
            <a:ext cx="9281169" cy="1496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55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47A76-23FC-4797-85D7-5B2CBC09ACC2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51F73-542D-4388-AC4E-3D5E9675725B}"/>
              </a:ext>
            </a:extLst>
          </p:cNvPr>
          <p:cNvSpPr txBox="1"/>
          <p:nvPr/>
        </p:nvSpPr>
        <p:spPr>
          <a:xfrm>
            <a:off x="2487507" y="5467028"/>
            <a:ext cx="609460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buClr>
                <a:srgbClr val="FF0000"/>
              </a:buClr>
              <a:tabLst>
                <a:tab pos="457200" algn="l"/>
              </a:tabLst>
            </a:pPr>
            <a:r>
              <a:rPr lang="en-IN" sz="1600" b="1" dirty="0">
                <a:solidFill>
                  <a:srgbClr val="FF0000"/>
                </a:solidFill>
                <a:effectLst/>
                <a:latin typeface="Arial Nova Cond" panose="020B0506020202020204" pitchFamily="34" charset="0"/>
                <a:ea typeface="Times New Roman" panose="02020603050405020304" pitchFamily="18" charset="0"/>
              </a:rPr>
              <a:t>Visitor </a:t>
            </a:r>
            <a:r>
              <a:rPr lang="en-IN" sz="1600" b="1" dirty="0">
                <a:solidFill>
                  <a:srgbClr val="FF0000"/>
                </a:solidFill>
                <a:latin typeface="Arial Nova Cond" panose="020B0506020202020204" pitchFamily="34" charset="0"/>
                <a:ea typeface="Times New Roman" panose="02020603050405020304" pitchFamily="18" charset="0"/>
              </a:rPr>
              <a:t>Report</a:t>
            </a:r>
            <a:r>
              <a:rPr lang="en-IN" sz="1600" b="1" dirty="0">
                <a:solidFill>
                  <a:srgbClr val="FF0000"/>
                </a:solidFill>
                <a:effectLst/>
                <a:latin typeface="Arial Nova Cond" panose="020B0506020202020204" pitchFamily="34" charset="0"/>
                <a:ea typeface="Times New Roman" panose="02020603050405020304" pitchFamily="18" charset="0"/>
              </a:rPr>
              <a:t>:</a:t>
            </a:r>
            <a:endParaRPr lang="en-IN" sz="1600" dirty="0">
              <a:solidFill>
                <a:srgbClr val="FF0000"/>
              </a:solidFill>
              <a:effectLst/>
              <a:latin typeface="Arial Nova Cond" panose="020B0506020202020204" pitchFamily="34" charset="0"/>
              <a:ea typeface="Calibri" panose="020F050202020403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IN" sz="1400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1400" dirty="0"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list of peoples who visited the company</a:t>
            </a:r>
            <a:endParaRPr lang="en-IN" sz="1400" dirty="0">
              <a:effectLst/>
              <a:latin typeface="Arial Nova Cond" panose="020B0506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Entry/Exit Time: </a:t>
            </a:r>
            <a:r>
              <a:rPr lang="en-IN" sz="1400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Tracks the </a:t>
            </a:r>
            <a:r>
              <a:rPr lang="en-IN" sz="1400" dirty="0"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visitor timing of visit inside </a:t>
            </a:r>
            <a:r>
              <a:rPr lang="en-IN" sz="1400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premises.</a:t>
            </a:r>
            <a:endParaRPr lang="en-IN" sz="1400" dirty="0">
              <a:effectLst/>
              <a:latin typeface="Arial Nova Cond" panose="020B0506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BC8D8-EEEF-49C8-A332-944B35C04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68" y="1056725"/>
            <a:ext cx="9068753" cy="42021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9F842A-A128-4984-8A7A-84CB669B9A51}"/>
              </a:ext>
            </a:extLst>
          </p:cNvPr>
          <p:cNvSpPr txBox="1"/>
          <p:nvPr/>
        </p:nvSpPr>
        <p:spPr>
          <a:xfrm>
            <a:off x="65303" y="2194428"/>
            <a:ext cx="783235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Date Filter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722435-D080-400F-9240-5D881507F3C7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848538" y="2325233"/>
            <a:ext cx="977719" cy="1654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09FAFD7-A5A9-4BD5-AA4C-DBB88C0D4C48}"/>
              </a:ext>
            </a:extLst>
          </p:cNvPr>
          <p:cNvSpPr/>
          <p:nvPr/>
        </p:nvSpPr>
        <p:spPr>
          <a:xfrm>
            <a:off x="1826257" y="2177343"/>
            <a:ext cx="2653244" cy="626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E91341-6FD0-4568-8733-4570D9AC8658}"/>
              </a:ext>
            </a:extLst>
          </p:cNvPr>
          <p:cNvSpPr txBox="1"/>
          <p:nvPr/>
        </p:nvSpPr>
        <p:spPr>
          <a:xfrm>
            <a:off x="4789815" y="653959"/>
            <a:ext cx="14001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Search Functionality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FF9853-FF48-4578-894E-DADAE8938F06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5489898" y="915569"/>
            <a:ext cx="775984" cy="1395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1926E61-7A8E-4413-8D45-C0BB9ABCC44A}"/>
              </a:ext>
            </a:extLst>
          </p:cNvPr>
          <p:cNvSpPr/>
          <p:nvPr/>
        </p:nvSpPr>
        <p:spPr>
          <a:xfrm>
            <a:off x="5190565" y="2310729"/>
            <a:ext cx="2150634" cy="3876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67B930-1A6E-4E4F-B08C-55B7A259EC46}"/>
              </a:ext>
            </a:extLst>
          </p:cNvPr>
          <p:cNvSpPr txBox="1"/>
          <p:nvPr/>
        </p:nvSpPr>
        <p:spPr>
          <a:xfrm>
            <a:off x="10078541" y="1748152"/>
            <a:ext cx="1760954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Quick Filter:</a:t>
            </a:r>
          </a:p>
          <a:p>
            <a:r>
              <a:rPr lang="en-US" sz="1100" dirty="0">
                <a:latin typeface="Arial Nova Cond" panose="020B0506020202020204" pitchFamily="34" charset="0"/>
              </a:rPr>
              <a:t>YDAY – for Yesterday report</a:t>
            </a:r>
          </a:p>
          <a:p>
            <a:r>
              <a:rPr lang="en-US" sz="1100" dirty="0">
                <a:latin typeface="Arial Nova Cond" panose="020B0506020202020204" pitchFamily="34" charset="0"/>
              </a:rPr>
              <a:t>TDAY – for Today’s report </a:t>
            </a:r>
            <a:endParaRPr lang="en-IN" sz="1100" dirty="0">
              <a:latin typeface="Arial Nova Cond" panose="020B0506020202020204" pitchFamily="34" charset="0"/>
            </a:endParaRPr>
          </a:p>
          <a:p>
            <a:r>
              <a:rPr lang="en-US" sz="1100" dirty="0">
                <a:latin typeface="Arial Nova Cond" panose="020B0506020202020204" pitchFamily="34" charset="0"/>
              </a:rPr>
              <a:t>MDAY – for Monthly report  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DD23B7-FF36-48A0-A264-C44A6F7429F8}"/>
              </a:ext>
            </a:extLst>
          </p:cNvPr>
          <p:cNvCxnSpPr>
            <a:cxnSpLocks/>
            <a:stCxn id="27" idx="1"/>
            <a:endCxn id="29" idx="3"/>
          </p:cNvCxnSpPr>
          <p:nvPr/>
        </p:nvCxnSpPr>
        <p:spPr>
          <a:xfrm flipH="1">
            <a:off x="9342674" y="2132873"/>
            <a:ext cx="735867" cy="3847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526C9B5-099C-4790-8CF4-929DF476E3D4}"/>
              </a:ext>
            </a:extLst>
          </p:cNvPr>
          <p:cNvSpPr/>
          <p:nvPr/>
        </p:nvSpPr>
        <p:spPr>
          <a:xfrm>
            <a:off x="8023561" y="2204238"/>
            <a:ext cx="1319113" cy="626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7953AD-C20D-4231-82C5-596F42473956}"/>
              </a:ext>
            </a:extLst>
          </p:cNvPr>
          <p:cNvSpPr txBox="1"/>
          <p:nvPr/>
        </p:nvSpPr>
        <p:spPr>
          <a:xfrm>
            <a:off x="10092771" y="2761128"/>
            <a:ext cx="1760954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On clicking, it will automatically send the Excel report to HR via email.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DD87DA-FCCF-47B1-89E3-D597A2EDC3D7}"/>
              </a:ext>
            </a:extLst>
          </p:cNvPr>
          <p:cNvCxnSpPr>
            <a:cxnSpLocks/>
            <a:stCxn id="38" idx="1"/>
            <a:endCxn id="40" idx="3"/>
          </p:cNvCxnSpPr>
          <p:nvPr/>
        </p:nvCxnSpPr>
        <p:spPr>
          <a:xfrm flipH="1">
            <a:off x="9643545" y="3061210"/>
            <a:ext cx="449226" cy="649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97B3990-8A1B-40CE-8038-2BD8A555D51B}"/>
              </a:ext>
            </a:extLst>
          </p:cNvPr>
          <p:cNvSpPr/>
          <p:nvPr/>
        </p:nvSpPr>
        <p:spPr>
          <a:xfrm>
            <a:off x="8618918" y="2994407"/>
            <a:ext cx="1024627" cy="263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9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15F2C3-E93D-42B1-9253-837F99ED9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09" y="1014184"/>
            <a:ext cx="9037371" cy="4480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847A76-23FC-4797-85D7-5B2CBC09ACC2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51F73-542D-4388-AC4E-3D5E9675725B}"/>
              </a:ext>
            </a:extLst>
          </p:cNvPr>
          <p:cNvSpPr txBox="1"/>
          <p:nvPr/>
        </p:nvSpPr>
        <p:spPr>
          <a:xfrm>
            <a:off x="1725504" y="5565643"/>
            <a:ext cx="609460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buClr>
                <a:srgbClr val="FF0000"/>
              </a:buClr>
              <a:tabLst>
                <a:tab pos="457200" algn="l"/>
              </a:tabLst>
            </a:pPr>
            <a:r>
              <a:rPr lang="en-IN" sz="1600" b="1" dirty="0">
                <a:solidFill>
                  <a:srgbClr val="FF0000"/>
                </a:solidFill>
                <a:effectLst/>
                <a:latin typeface="Arial Nova Cond" panose="020B0506020202020204" pitchFamily="34" charset="0"/>
                <a:ea typeface="Times New Roman" panose="02020603050405020304" pitchFamily="18" charset="0"/>
              </a:rPr>
              <a:t>Visitor </a:t>
            </a:r>
            <a:r>
              <a:rPr lang="en-IN" sz="1600" b="1" dirty="0">
                <a:solidFill>
                  <a:srgbClr val="FF0000"/>
                </a:solidFill>
                <a:latin typeface="Arial Nova Cond" panose="020B0506020202020204" pitchFamily="34" charset="0"/>
                <a:ea typeface="Times New Roman" panose="02020603050405020304" pitchFamily="18" charset="0"/>
              </a:rPr>
              <a:t>Report</a:t>
            </a:r>
            <a:r>
              <a:rPr lang="en-IN" sz="1600" b="1" dirty="0">
                <a:solidFill>
                  <a:srgbClr val="FF0000"/>
                </a:solidFill>
                <a:effectLst/>
                <a:latin typeface="Arial Nova Cond" panose="020B0506020202020204" pitchFamily="34" charset="0"/>
                <a:ea typeface="Times New Roman" panose="02020603050405020304" pitchFamily="18" charset="0"/>
              </a:rPr>
              <a:t>:</a:t>
            </a:r>
            <a:endParaRPr lang="en-IN" sz="1600" dirty="0">
              <a:solidFill>
                <a:srgbClr val="FF0000"/>
              </a:solidFill>
              <a:effectLst/>
              <a:latin typeface="Arial Nova Cond" panose="020B0506020202020204" pitchFamily="34" charset="0"/>
              <a:ea typeface="Calibri" panose="020F0502020204030204" pitchFamily="34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IN" sz="1400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1400" dirty="0"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list of peoples who visited the company</a:t>
            </a:r>
            <a:endParaRPr lang="en-IN" sz="1400" dirty="0">
              <a:effectLst/>
              <a:latin typeface="Arial Nova Cond" panose="020B0506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b="1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Entry/Exit Time: </a:t>
            </a:r>
            <a:r>
              <a:rPr lang="en-IN" sz="1400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Tracks the </a:t>
            </a:r>
            <a:r>
              <a:rPr lang="en-IN" sz="1400" dirty="0"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visitor timing of visit inside </a:t>
            </a:r>
            <a:r>
              <a:rPr lang="en-IN" sz="1400" dirty="0">
                <a:effectLst/>
                <a:latin typeface="Arial Nova Cond" panose="020B0506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premises.</a:t>
            </a:r>
            <a:endParaRPr lang="en-IN" sz="1400" dirty="0">
              <a:effectLst/>
              <a:latin typeface="Arial Nova Cond" panose="020B0506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F842A-A128-4984-8A7A-84CB669B9A51}"/>
              </a:ext>
            </a:extLst>
          </p:cNvPr>
          <p:cNvSpPr txBox="1"/>
          <p:nvPr/>
        </p:nvSpPr>
        <p:spPr>
          <a:xfrm>
            <a:off x="5915200" y="752574"/>
            <a:ext cx="783235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Date Filter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722435-D080-400F-9240-5D881507F3C7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flipH="1">
            <a:off x="6273120" y="1014184"/>
            <a:ext cx="33698" cy="7404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09FAFD7-A5A9-4BD5-AA4C-DBB88C0D4C48}"/>
              </a:ext>
            </a:extLst>
          </p:cNvPr>
          <p:cNvSpPr/>
          <p:nvPr/>
        </p:nvSpPr>
        <p:spPr>
          <a:xfrm>
            <a:off x="4761993" y="1754606"/>
            <a:ext cx="3022253" cy="384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E91341-6FD0-4568-8733-4570D9AC8658}"/>
              </a:ext>
            </a:extLst>
          </p:cNvPr>
          <p:cNvSpPr txBox="1"/>
          <p:nvPr/>
        </p:nvSpPr>
        <p:spPr>
          <a:xfrm>
            <a:off x="3956093" y="644996"/>
            <a:ext cx="140016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Search Functionality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FF9853-FF48-4578-894E-DADAE8938F06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3638655" y="906606"/>
            <a:ext cx="1017521" cy="8480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1926E61-7A8E-4413-8D45-C0BB9ABCC44A}"/>
              </a:ext>
            </a:extLst>
          </p:cNvPr>
          <p:cNvSpPr/>
          <p:nvPr/>
        </p:nvSpPr>
        <p:spPr>
          <a:xfrm>
            <a:off x="2525404" y="1754606"/>
            <a:ext cx="2226502" cy="3876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67B930-1A6E-4E4F-B08C-55B7A259EC46}"/>
              </a:ext>
            </a:extLst>
          </p:cNvPr>
          <p:cNvSpPr txBox="1"/>
          <p:nvPr/>
        </p:nvSpPr>
        <p:spPr>
          <a:xfrm>
            <a:off x="8922090" y="5590294"/>
            <a:ext cx="1760954" cy="938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Visitor Details: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Last Visit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Last Visited Employee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Total Visits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Company Name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DD23B7-FF36-48A0-A264-C44A6F7429F8}"/>
              </a:ext>
            </a:extLst>
          </p:cNvPr>
          <p:cNvCxnSpPr>
            <a:cxnSpLocks/>
            <a:stCxn id="27" idx="0"/>
            <a:endCxn id="29" idx="3"/>
          </p:cNvCxnSpPr>
          <p:nvPr/>
        </p:nvCxnSpPr>
        <p:spPr>
          <a:xfrm flipH="1" flipV="1">
            <a:off x="9072279" y="5121913"/>
            <a:ext cx="730288" cy="4683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526C9B5-099C-4790-8CF4-929DF476E3D4}"/>
              </a:ext>
            </a:extLst>
          </p:cNvPr>
          <p:cNvSpPr/>
          <p:nvPr/>
        </p:nvSpPr>
        <p:spPr>
          <a:xfrm>
            <a:off x="1532962" y="4808558"/>
            <a:ext cx="7539317" cy="626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DD87DA-FCCF-47B1-89E3-D597A2EDC3D7}"/>
              </a:ext>
            </a:extLst>
          </p:cNvPr>
          <p:cNvCxnSpPr>
            <a:cxnSpLocks/>
            <a:stCxn id="43" idx="1"/>
            <a:endCxn id="40" idx="0"/>
          </p:cNvCxnSpPr>
          <p:nvPr/>
        </p:nvCxnSpPr>
        <p:spPr>
          <a:xfrm flipH="1">
            <a:off x="8633009" y="2658616"/>
            <a:ext cx="764211" cy="14662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97B3990-8A1B-40CE-8038-2BD8A555D51B}"/>
              </a:ext>
            </a:extLst>
          </p:cNvPr>
          <p:cNvSpPr/>
          <p:nvPr/>
        </p:nvSpPr>
        <p:spPr>
          <a:xfrm>
            <a:off x="8193738" y="4124914"/>
            <a:ext cx="878541" cy="331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472F9A6-2C97-4983-92AB-00A718029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220" y="1505306"/>
            <a:ext cx="4875104" cy="23066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CF1AC57-697F-407F-BC0E-7D5CBC5020E1}"/>
              </a:ext>
            </a:extLst>
          </p:cNvPr>
          <p:cNvSpPr txBox="1"/>
          <p:nvPr/>
        </p:nvSpPr>
        <p:spPr>
          <a:xfrm>
            <a:off x="10125121" y="4134538"/>
            <a:ext cx="1760954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Visitor Recent Logs: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Logs of all Visits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Employee Visited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DFFCD2-291E-4A6A-BDB1-EA30F0115CFC}"/>
              </a:ext>
            </a:extLst>
          </p:cNvPr>
          <p:cNvCxnSpPr>
            <a:cxnSpLocks/>
            <a:stCxn id="46" idx="0"/>
            <a:endCxn id="54" idx="2"/>
          </p:cNvCxnSpPr>
          <p:nvPr/>
        </p:nvCxnSpPr>
        <p:spPr>
          <a:xfrm flipV="1">
            <a:off x="11005598" y="3747247"/>
            <a:ext cx="810664" cy="3872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03B4EA7-59EA-4AFD-A531-BEDCC4054BA8}"/>
              </a:ext>
            </a:extLst>
          </p:cNvPr>
          <p:cNvSpPr/>
          <p:nvPr/>
        </p:nvSpPr>
        <p:spPr>
          <a:xfrm>
            <a:off x="9450358" y="2139394"/>
            <a:ext cx="4731807" cy="16078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22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C52B47B4-7DAE-4149-9904-FBBBFB02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820" y="693464"/>
            <a:ext cx="8348406" cy="47080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D609AE-3422-478F-866F-E0BC3F59EA12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Pass Print Preview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89114-B400-4D46-889E-6811F66D2A6E}"/>
              </a:ext>
            </a:extLst>
          </p:cNvPr>
          <p:cNvSpPr txBox="1"/>
          <p:nvPr/>
        </p:nvSpPr>
        <p:spPr>
          <a:xfrm>
            <a:off x="4803426" y="5929201"/>
            <a:ext cx="2316468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  <a:latin typeface="Arial Nova Cond" panose="020B0506020202020204" pitchFamily="34" charset="0"/>
              </a:rPr>
              <a:t>Preview: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 Nova Cond" panose="020B0506020202020204" pitchFamily="34" charset="0"/>
              </a:rPr>
              <a:t>Visitor Pass Print Preview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E3F8A-E5F7-4462-96A9-2DDF815E6785}"/>
              </a:ext>
            </a:extLst>
          </p:cNvPr>
          <p:cNvSpPr txBox="1"/>
          <p:nvPr/>
        </p:nvSpPr>
        <p:spPr>
          <a:xfrm>
            <a:off x="1109851" y="1235543"/>
            <a:ext cx="74892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Visitor Pic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E7AA6-B732-4300-B50C-F0A86C27BBCA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1858774" y="1366348"/>
            <a:ext cx="764621" cy="89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4423027-67BD-4039-8C7A-184D861C70E0}"/>
              </a:ext>
            </a:extLst>
          </p:cNvPr>
          <p:cNvSpPr/>
          <p:nvPr/>
        </p:nvSpPr>
        <p:spPr>
          <a:xfrm>
            <a:off x="2623395" y="859072"/>
            <a:ext cx="1061099" cy="1032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F001C0-0FAA-4A9A-88C3-0C1AEA8F9C35}"/>
              </a:ext>
            </a:extLst>
          </p:cNvPr>
          <p:cNvSpPr txBox="1"/>
          <p:nvPr/>
        </p:nvSpPr>
        <p:spPr>
          <a:xfrm>
            <a:off x="10522942" y="1235543"/>
            <a:ext cx="748923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Visitor Pic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283A0F-A176-433F-B98B-F066AD689303}"/>
              </a:ext>
            </a:extLst>
          </p:cNvPr>
          <p:cNvCxnSpPr>
            <a:cxnSpLocks/>
            <a:stCxn id="22" idx="1"/>
            <a:endCxn id="26" idx="3"/>
          </p:cNvCxnSpPr>
          <p:nvPr/>
        </p:nvCxnSpPr>
        <p:spPr>
          <a:xfrm flipH="1">
            <a:off x="9550675" y="1366348"/>
            <a:ext cx="9722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3547A59-8E78-4561-9E71-A38C57FE06CF}"/>
              </a:ext>
            </a:extLst>
          </p:cNvPr>
          <p:cNvSpPr/>
          <p:nvPr/>
        </p:nvSpPr>
        <p:spPr>
          <a:xfrm>
            <a:off x="8489576" y="850107"/>
            <a:ext cx="1061099" cy="1032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515DB1-3DBB-48B0-BDD3-E43CD5206980}"/>
              </a:ext>
            </a:extLst>
          </p:cNvPr>
          <p:cNvSpPr txBox="1"/>
          <p:nvPr/>
        </p:nvSpPr>
        <p:spPr>
          <a:xfrm>
            <a:off x="648153" y="2228833"/>
            <a:ext cx="1201335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Visitor Details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7C3AB7-30AD-49EE-A360-CE4F7E819A4B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1849488" y="2359638"/>
            <a:ext cx="321174" cy="141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D79FAFF-7307-4339-B5DD-BBCB75F6EF93}"/>
              </a:ext>
            </a:extLst>
          </p:cNvPr>
          <p:cNvSpPr/>
          <p:nvPr/>
        </p:nvSpPr>
        <p:spPr>
          <a:xfrm>
            <a:off x="2170662" y="2049204"/>
            <a:ext cx="1702091" cy="649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3096B4-593B-472C-AE7C-7D55906D6EED}"/>
              </a:ext>
            </a:extLst>
          </p:cNvPr>
          <p:cNvSpPr txBox="1"/>
          <p:nvPr/>
        </p:nvSpPr>
        <p:spPr>
          <a:xfrm>
            <a:off x="10411269" y="2049204"/>
            <a:ext cx="972267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Visitor Appointment Details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54E5EE6-1B3E-46DD-A8A2-4E46CCECBF7B}"/>
              </a:ext>
            </a:extLst>
          </p:cNvPr>
          <p:cNvCxnSpPr>
            <a:cxnSpLocks/>
            <a:stCxn id="36" idx="1"/>
            <a:endCxn id="38" idx="3"/>
          </p:cNvCxnSpPr>
          <p:nvPr/>
        </p:nvCxnSpPr>
        <p:spPr>
          <a:xfrm flipH="1">
            <a:off x="7216588" y="2349286"/>
            <a:ext cx="3194681" cy="174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9AC5FCD-BF9C-42A2-8401-CF44C86D4F94}"/>
              </a:ext>
            </a:extLst>
          </p:cNvPr>
          <p:cNvSpPr/>
          <p:nvPr/>
        </p:nvSpPr>
        <p:spPr>
          <a:xfrm>
            <a:off x="4803426" y="2035051"/>
            <a:ext cx="2413162" cy="663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850F4C-B77B-431A-9BCE-5841AE350CFD}"/>
              </a:ext>
            </a:extLst>
          </p:cNvPr>
          <p:cNvSpPr txBox="1"/>
          <p:nvPr/>
        </p:nvSpPr>
        <p:spPr>
          <a:xfrm>
            <a:off x="627855" y="2712530"/>
            <a:ext cx="1201335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Signature Space for emp, visitor &amp; security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D8F041C-57FC-4574-8F59-B226783A58EE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>
            <a:off x="1829190" y="3012612"/>
            <a:ext cx="1192517" cy="2415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E0EBCC5-93D8-4E3D-A143-17E5026BE0A6}"/>
              </a:ext>
            </a:extLst>
          </p:cNvPr>
          <p:cNvSpPr/>
          <p:nvPr/>
        </p:nvSpPr>
        <p:spPr>
          <a:xfrm>
            <a:off x="3021707" y="3012612"/>
            <a:ext cx="6679223" cy="483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AB416B-54EC-4AA2-BD02-21B36F7D75B1}"/>
              </a:ext>
            </a:extLst>
          </p:cNvPr>
          <p:cNvSpPr txBox="1"/>
          <p:nvPr/>
        </p:nvSpPr>
        <p:spPr>
          <a:xfrm>
            <a:off x="509183" y="4009266"/>
            <a:ext cx="96102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Instruction for visitor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AD20808-15E6-4366-95D0-199D834E1247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>
            <a:off x="1470212" y="4224710"/>
            <a:ext cx="664494" cy="3820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16A02B57-8D34-4F36-AD1A-DEE410E1454E}"/>
              </a:ext>
            </a:extLst>
          </p:cNvPr>
          <p:cNvSpPr/>
          <p:nvPr/>
        </p:nvSpPr>
        <p:spPr>
          <a:xfrm>
            <a:off x="2134706" y="3960220"/>
            <a:ext cx="4122660" cy="1293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50EF43-A4C9-4161-89C9-36BA16C91B41}"/>
              </a:ext>
            </a:extLst>
          </p:cNvPr>
          <p:cNvSpPr txBox="1"/>
          <p:nvPr/>
        </p:nvSpPr>
        <p:spPr>
          <a:xfrm>
            <a:off x="10634613" y="3976051"/>
            <a:ext cx="122982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ISO Document No.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51C6673-477A-4EE4-8E50-8275BD5A2E50}"/>
              </a:ext>
            </a:extLst>
          </p:cNvPr>
          <p:cNvCxnSpPr>
            <a:cxnSpLocks/>
            <a:stCxn id="65" idx="1"/>
            <a:endCxn id="67" idx="3"/>
          </p:cNvCxnSpPr>
          <p:nvPr/>
        </p:nvCxnSpPr>
        <p:spPr>
          <a:xfrm flipH="1">
            <a:off x="10139083" y="4106856"/>
            <a:ext cx="495530" cy="55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480A355-CA94-4021-A745-2AE307C4958C}"/>
              </a:ext>
            </a:extLst>
          </p:cNvPr>
          <p:cNvSpPr/>
          <p:nvPr/>
        </p:nvSpPr>
        <p:spPr>
          <a:xfrm>
            <a:off x="8946777" y="3879589"/>
            <a:ext cx="1192306" cy="465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28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966EDF-C92A-4DF2-8651-389B5CA8431A}"/>
              </a:ext>
            </a:extLst>
          </p:cNvPr>
          <p:cNvSpPr txBox="1"/>
          <p:nvPr/>
        </p:nvSpPr>
        <p:spPr>
          <a:xfrm>
            <a:off x="153942" y="76452"/>
            <a:ext cx="668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i="0" u="none" strike="noStrike" dirty="0">
                <a:solidFill>
                  <a:schemeClr val="bg1"/>
                </a:solidFill>
                <a:effectLst/>
                <a:latin typeface="Arial Nova Cond" panose="020B0506020202020204" pitchFamily="34" charset="0"/>
              </a:rPr>
              <a:t>Visitor </a:t>
            </a:r>
            <a:r>
              <a:rPr lang="en-IN" b="1" dirty="0">
                <a:solidFill>
                  <a:schemeClr val="bg1"/>
                </a:solidFill>
                <a:latin typeface="Arial Nova Cond" panose="020B0506020202020204" pitchFamily="34" charset="0"/>
              </a:rPr>
              <a:t>Mail Notification</a:t>
            </a:r>
            <a:endParaRPr lang="en-IN" sz="1800" b="1" i="0" u="none" strike="noStrike" dirty="0">
              <a:solidFill>
                <a:schemeClr val="bg1"/>
              </a:solidFill>
              <a:effectLst/>
              <a:latin typeface="Arial Nova Cond" panose="020B0506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E9F993-ED4F-4505-A698-45B83A4E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33" y="788893"/>
            <a:ext cx="6901822" cy="54684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446588-827D-40CD-9323-BDE9F722856D}"/>
              </a:ext>
            </a:extLst>
          </p:cNvPr>
          <p:cNvSpPr txBox="1"/>
          <p:nvPr/>
        </p:nvSpPr>
        <p:spPr>
          <a:xfrm>
            <a:off x="1656665" y="2413548"/>
            <a:ext cx="96102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Visitor Pic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79248A-16C6-49E2-AD91-708274EAACC5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2617694" y="2544353"/>
            <a:ext cx="2158522" cy="1996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2BB6163-D024-484C-ADED-3D61F49689AE}"/>
              </a:ext>
            </a:extLst>
          </p:cNvPr>
          <p:cNvSpPr/>
          <p:nvPr/>
        </p:nvSpPr>
        <p:spPr>
          <a:xfrm>
            <a:off x="4776216" y="2197886"/>
            <a:ext cx="1095666" cy="1092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F6079E-7418-42CF-9509-FDEC41C39814}"/>
              </a:ext>
            </a:extLst>
          </p:cNvPr>
          <p:cNvSpPr txBox="1"/>
          <p:nvPr/>
        </p:nvSpPr>
        <p:spPr>
          <a:xfrm>
            <a:off x="1246095" y="1099247"/>
            <a:ext cx="1165412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Notification Mail:</a:t>
            </a:r>
          </a:p>
          <a:p>
            <a:r>
              <a:rPr lang="en-US" sz="1100" dirty="0">
                <a:latin typeface="Arial Nova Cond" panose="020B0506020202020204" pitchFamily="34" charset="0"/>
              </a:rPr>
              <a:t>To: Employee</a:t>
            </a:r>
          </a:p>
          <a:p>
            <a:r>
              <a:rPr lang="en-US" sz="1100" dirty="0">
                <a:latin typeface="Arial Nova Cond" panose="020B0506020202020204" pitchFamily="34" charset="0"/>
              </a:rPr>
              <a:t>CC: Manager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84D823-88EF-4053-B7E7-D226587690B1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2411507" y="1389530"/>
            <a:ext cx="831744" cy="97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E973340-14BF-4157-B4A5-79401405EB19}"/>
              </a:ext>
            </a:extLst>
          </p:cNvPr>
          <p:cNvSpPr/>
          <p:nvPr/>
        </p:nvSpPr>
        <p:spPr>
          <a:xfrm>
            <a:off x="3243251" y="1165412"/>
            <a:ext cx="2987220" cy="44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4C3F28-54DF-44D6-AA03-05196DB59F29}"/>
              </a:ext>
            </a:extLst>
          </p:cNvPr>
          <p:cNvSpPr txBox="1"/>
          <p:nvPr/>
        </p:nvSpPr>
        <p:spPr>
          <a:xfrm>
            <a:off x="9851194" y="2199928"/>
            <a:ext cx="961029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Visitor Details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DA1B80-B0A9-4260-B703-D58A38332D38}"/>
              </a:ext>
            </a:extLst>
          </p:cNvPr>
          <p:cNvCxnSpPr>
            <a:cxnSpLocks/>
            <a:stCxn id="28" idx="1"/>
            <a:endCxn id="30" idx="3"/>
          </p:cNvCxnSpPr>
          <p:nvPr/>
        </p:nvCxnSpPr>
        <p:spPr>
          <a:xfrm flipH="1">
            <a:off x="7790329" y="2330733"/>
            <a:ext cx="2060865" cy="4369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B21A1-C7BB-4F3A-BADE-9D8C4B36B09C}"/>
              </a:ext>
            </a:extLst>
          </p:cNvPr>
          <p:cNvSpPr/>
          <p:nvPr/>
        </p:nvSpPr>
        <p:spPr>
          <a:xfrm>
            <a:off x="6107299" y="2221562"/>
            <a:ext cx="1683030" cy="1092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4A5016-043F-4A26-ABAB-1BF554BD6F90}"/>
              </a:ext>
            </a:extLst>
          </p:cNvPr>
          <p:cNvSpPr txBox="1"/>
          <p:nvPr/>
        </p:nvSpPr>
        <p:spPr>
          <a:xfrm>
            <a:off x="10057381" y="3523128"/>
            <a:ext cx="1408478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 Nova Cond" panose="020B0506020202020204" pitchFamily="34" charset="0"/>
              </a:rPr>
              <a:t>Appointment Details</a:t>
            </a:r>
            <a:endParaRPr lang="en-IN" sz="1100" dirty="0">
              <a:latin typeface="Arial Nova Cond" panose="020B050602020202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313A8B0-30C8-4E49-AF6F-BEDE59904A55}"/>
              </a:ext>
            </a:extLst>
          </p:cNvPr>
          <p:cNvCxnSpPr>
            <a:cxnSpLocks/>
            <a:stCxn id="37" idx="1"/>
            <a:endCxn id="39" idx="3"/>
          </p:cNvCxnSpPr>
          <p:nvPr/>
        </p:nvCxnSpPr>
        <p:spPr>
          <a:xfrm flipH="1">
            <a:off x="7664823" y="3653933"/>
            <a:ext cx="2392558" cy="2300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175DF69-0FE3-4B32-BCF6-D0FC7635CC9E}"/>
              </a:ext>
            </a:extLst>
          </p:cNvPr>
          <p:cNvSpPr/>
          <p:nvPr/>
        </p:nvSpPr>
        <p:spPr>
          <a:xfrm>
            <a:off x="4424268" y="3429001"/>
            <a:ext cx="3240555" cy="909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58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13223</TotalTime>
  <Words>388</Words>
  <Application>Microsoft Office PowerPoint</Application>
  <PresentationFormat>Widescreen</PresentationFormat>
  <Paragraphs>83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Nova Cond</vt:lpstr>
      <vt:lpstr>Calibri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 Operation Plan Sanjan</dc:title>
  <dc:creator>Prashant Singh</dc:creator>
  <cp:lastModifiedBy>Vikash Kumar</cp:lastModifiedBy>
  <cp:revision>1057</cp:revision>
  <dcterms:created xsi:type="dcterms:W3CDTF">2019-07-09T11:10:59Z</dcterms:created>
  <dcterms:modified xsi:type="dcterms:W3CDTF">2025-11-20T09:45:17Z</dcterms:modified>
</cp:coreProperties>
</file>